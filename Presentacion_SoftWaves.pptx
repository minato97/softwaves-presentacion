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noFill/>
          <a:ln w="6350">
            <a:solidFill>
              <a:srgbClr val="01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0" y="-914400"/>
            <a:ext cx="2286000" cy="2286000"/>
          </a:xfrm>
          <a:prstGeom prst="ellipse">
            <a:avLst/>
          </a:prstGeom>
          <a:noFill/>
          <a:ln w="6350">
            <a:solidFill>
              <a:srgbClr val="7F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804672"/>
            <a:ext cx="65836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Soft</a:t>
            </a:r>
            <a:r>
              <a:rPr sz="8000" b="1" i="0">
                <a:solidFill>
                  <a:srgbClr val="FFFF6A"/>
                </a:solidFill>
                <a:latin typeface="Calibri"/>
              </a:rPr>
              <a:t>Waves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331720"/>
            <a:ext cx="146304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AEC0"/>
                </a:solidFill>
                <a:latin typeface="Calibri"/>
              </a:rPr>
              <a:t>Desarrollo de software inteligente para PyMEs mexicanas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3063240"/>
            <a:ext cx="4023360" cy="47548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31546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6A"/>
                </a:solidFill>
                <a:latin typeface="Calibri"/>
              </a:rPr>
              <a:t>Expo-Emprende 2026A  ·  CUVALLES  ·  Mayo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3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EC0"/>
                </a:solidFill>
                <a:latin typeface="Calibri"/>
              </a:rPr>
              <a:t>softwaves.contacto@gmail.com  |  minato97.github.io/softwaves  |  Ameca, Jalisco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01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PANORAMA DEL MERCADO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El mercado existe. La </a:t>
            </a:r>
            <a:r>
              <a:rPr sz="3400" b="1" i="0">
                <a:solidFill>
                  <a:srgbClr val="FFFF6A"/>
                </a:solidFill>
                <a:latin typeface="Calibri"/>
              </a:rPr>
              <a:t>solución</a:t>
            </a:r>
            <a:r>
              <a:rPr sz="3400" b="1" i="0">
                <a:solidFill>
                  <a:srgbClr val="FFFFFF"/>
                </a:solidFill>
                <a:latin typeface="Calibri"/>
              </a:rPr>
              <a:t>, 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993392" cy="132588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73452"/>
            <a:ext cx="1993392" cy="41148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993392" cy="729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6A"/>
                </a:solidFill>
                <a:latin typeface="Calibri"/>
              </a:rPr>
              <a:t>4.1M+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84248"/>
            <a:ext cx="1810512" cy="477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AEC0"/>
                </a:solidFill>
                <a:latin typeface="Calibri"/>
              </a:rPr>
              <a:t>PyMEs en México sin
digitalización de procesos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1188720"/>
            <a:ext cx="1993392" cy="132588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33472" y="2473452"/>
            <a:ext cx="1993392" cy="41148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1280160"/>
            <a:ext cx="1993392" cy="729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6A"/>
                </a:solidFill>
                <a:latin typeface="Calibri"/>
              </a:rPr>
              <a:t>72%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1984248"/>
            <a:ext cx="1810512" cy="477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AEC0"/>
                </a:solidFill>
                <a:latin typeface="Calibri"/>
              </a:rPr>
              <a:t>de las PyMEs operan sin
software especializado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9744" y="1188720"/>
            <a:ext cx="1993392" cy="132588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9744" y="2473452"/>
            <a:ext cx="1993392" cy="41148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1280160"/>
            <a:ext cx="1993392" cy="729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6A"/>
                </a:solidFill>
                <a:latin typeface="Calibri"/>
              </a:rPr>
              <a:t>$180B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3" y="1984248"/>
            <a:ext cx="1810512" cy="477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AEC0"/>
                </a:solidFill>
                <a:latin typeface="Calibri"/>
              </a:rPr>
              <a:t>Valor del mercado de
software en México (MXN)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86016" y="1188720"/>
            <a:ext cx="1993392" cy="132588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86016" y="2473452"/>
            <a:ext cx="1993392" cy="41148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6016" y="1280160"/>
            <a:ext cx="1993392" cy="729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6A"/>
                </a:solidFill>
                <a:latin typeface="Calibri"/>
              </a:rPr>
              <a:t>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5" y="1984248"/>
            <a:ext cx="1810512" cy="477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AEC0"/>
                </a:solidFill>
                <a:latin typeface="Calibri"/>
              </a:rPr>
              <a:t>Crecimiento anual del
sector TI en México (CAGR)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70048"/>
            <a:ext cx="3977639" cy="126187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670048"/>
            <a:ext cx="3977639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761488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📉  El problema de la oferta actual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035808"/>
            <a:ext cx="370332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Los proveedores de software se enfocan en grandes empresas. Las PyMEs quedan sin opciones accesibles, personalizadas y con soporte real.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2670048"/>
            <a:ext cx="3977639" cy="126187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2670048"/>
            <a:ext cx="3977639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761488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📍  La oportunidad local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035808"/>
            <a:ext cx="370332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La Región Valles de Jalisco tiene +320 empresas activas. Ninguna empresa de software local las atiende de forma especializada.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QUIÉNES SOMOS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SoftWaves
</a:t>
            </a:r>
            <a:r>
              <a:rPr sz="1800" b="1" i="0">
                <a:solidFill>
                  <a:srgbClr val="FFFF6A"/>
                </a:solidFill>
                <a:latin typeface="Calibri"/>
              </a:rPr>
              <a:t>S. de R.L. de C.V.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54864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10512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Fundada en 2025, Ameca, Jalisco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4 socios fundadores especializados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Giro: desarrollo de software a la medida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Operación remota con atención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45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MISIÓN  |  VISIÓN  |  PROPUESTA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384048"/>
            <a:ext cx="5074920" cy="11887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384048"/>
            <a:ext cx="5074920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475488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🚀  Misión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74980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Empoderar a las PyMEs mexicanas con tecnología accesible, ágil y personalizada, construida sobre arquitectura moderna que entrega alto impacto en tiempos reducidos.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1664208"/>
            <a:ext cx="5074920" cy="11887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64208"/>
            <a:ext cx="5074920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755648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🎯  Visión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02996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Ser la empresa de software de referencia para las PyMEs de México y América Latina al 2028, reconocida por calidad, velocidad de entrega y solidez.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2944368"/>
            <a:ext cx="5074920" cy="11887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4760" y="2944368"/>
            <a:ext cx="507492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035808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💡  Propuesta central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31012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Construimos software más rápido y más barato que la competencia, sin sacrificar calidad — gracias a nuestra arquitectura de bloques reutilizables.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PROPUESTA DE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"/>
            <a:ext cx="8412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El mismo software.  </a:t>
            </a:r>
            <a:r>
              <a:rPr sz="3200" b="1" i="0">
                <a:solidFill>
                  <a:srgbClr val="FFFF6A"/>
                </a:solidFill>
                <a:latin typeface="Calibri"/>
              </a:rPr>
              <a:t>60% más rápido.</a:t>
            </a:r>
            <a:r>
              <a:rPr sz="3200" b="1" i="0">
                <a:solidFill>
                  <a:srgbClr val="FFFFFF"/>
                </a:solidFill>
                <a:latin typeface="Calibri"/>
              </a:rPr>
              <a:t>  Mismo precio.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EC0"/>
                </a:solidFill>
                <a:latin typeface="Calibri"/>
              </a:rPr>
              <a:t>Como armar una casa: un desarrollador tradicional fabrica cada ladrillo desde cero. SoftWaves ya tiene los ladrillos listos — módulos de código probado y reutilizable — y solo personaliza el diseño para cada cliente.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029968" cy="13716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029968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⚡  60% más rápido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17556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Reutilizamos módulos probados. Lo que otros tardan 4 meses, nosotros lo entregamos en 6 semanas.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1828800"/>
            <a:ext cx="2029968" cy="13716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3472" y="1828800"/>
            <a:ext cx="2029968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1920240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💰  Costo competitivo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2194560"/>
            <a:ext cx="17556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Menos horas de desarrollo = menor costo para el cliente, con la misma calidad de resultado.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9744" y="1828800"/>
            <a:ext cx="2029968" cy="13716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9744" y="1828800"/>
            <a:ext cx="2029968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920240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🔧  Hecho a la medida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6904" y="2194560"/>
            <a:ext cx="17556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No vendemos plantillas genéricas. Cada sistema se adapta exactamente al proceso del cliente.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6016" y="1828800"/>
            <a:ext cx="2029968" cy="13716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86016" y="1828800"/>
            <a:ext cx="2029968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3176" y="1920240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📈  Escalable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6" y="2194560"/>
            <a:ext cx="17556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El sistema crece con el negocio. Agregar nuevas funciones es agregar módulos, no reescribir todo.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37560"/>
            <a:ext cx="8229600" cy="621792"/>
          </a:xfrm>
          <a:prstGeom prst="rect">
            <a:avLst/>
          </a:prstGeom>
          <a:solidFill>
            <a:srgbClr val="1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01568"/>
            <a:ext cx="7863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🧩  Analogía: No construimos desde cero — tenemos una biblioteca de piezas de software probadas en producción. Tu sistema es único; los componentes internos son eficientes.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SEGMENTOS DE 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Clientes
bien </a:t>
            </a:r>
            <a:r>
              <a:rPr sz="3200" b="1" i="0">
                <a:solidFill>
                  <a:srgbClr val="FFFF6A"/>
                </a:solidFill>
                <a:latin typeface="Calibri"/>
              </a:rPr>
              <a:t>definidos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54864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10512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  <a:latin typeface="Calibri"/>
              </a:rPr>
              <a:t>Atacamos tres segmentos con estrategias diferenciadas, priorizando la Región Valles para construir reputación local antes de escalar.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01168"/>
            <a:ext cx="5074920" cy="14173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201168"/>
            <a:ext cx="54864" cy="1417320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1" y="2926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🏢  Segmento A — PyME Establecida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39" y="256032"/>
            <a:ext cx="1097280" cy="201168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39" y="2560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Primario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566928"/>
            <a:ext cx="4800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0AEC0"/>
                </a:solidFill>
                <a:latin typeface="Calibri"/>
              </a:rPr>
              <a:t>Quiénes: Comercios, manufactura, salud, servicios 5–100 empleados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A0AEC0"/>
                </a:solidFill>
                <a:latin typeface="Calibri"/>
              </a:rPr>
              <a:t>Necesidad: Sistemas de gestión, e-commerce, automatización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FFFF6A"/>
                </a:solidFill>
                <a:latin typeface="Calibri"/>
              </a:rPr>
              <a:t>Ticket: $25,000–$120,000 MXN por proyecto o $2,500–$12,000/mes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737360"/>
            <a:ext cx="5074920" cy="14173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39" y="1737360"/>
            <a:ext cx="54864" cy="1417320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1" y="18288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🌱  Segmento B — Microempresa Digital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39" y="1792224"/>
            <a:ext cx="1097280" cy="201168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39" y="17922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Secundario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2103120"/>
            <a:ext cx="4800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0AEC0"/>
                </a:solidFill>
                <a:latin typeface="Calibri"/>
              </a:rPr>
              <a:t>Quiénes: Emprendedores, tiendas pequeñas, 1–5 empleados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A0AEC0"/>
                </a:solidFill>
                <a:latin typeface="Calibri"/>
              </a:rPr>
              <a:t>Necesidad: Control de inventario básico, registro de ventas, presencia digital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FFFF6A"/>
                </a:solidFill>
                <a:latin typeface="Calibri"/>
              </a:rPr>
              <a:t>Ticket: $2,500–$5,000/mes (SaaS simplificado)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3273552"/>
            <a:ext cx="5074920" cy="14173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3273552"/>
            <a:ext cx="54864" cy="1417320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13631" y="33649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🌐  Segmento C — Nacional (Remoto)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39" y="3328416"/>
            <a:ext cx="1097280" cy="201168"/>
          </a:xfrm>
          <a:prstGeom prst="rect">
            <a:avLst/>
          </a:prstGeom>
          <a:solidFill>
            <a:srgbClr val="14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39" y="332841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Crecimiento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1" y="3639312"/>
            <a:ext cx="4800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0AEC0"/>
                </a:solidFill>
                <a:latin typeface="Calibri"/>
              </a:rPr>
              <a:t>Quiénes: Empresas de cualquier estado, desarrollo ágil a distancia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A0AEC0"/>
                </a:solidFill>
                <a:latin typeface="Calibri"/>
              </a:rPr>
              <a:t>Necesidad: Desarrollo web, apps, consultoría tecnológica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FFFF6A"/>
                </a:solidFill>
                <a:latin typeface="Calibri"/>
              </a:rPr>
              <a:t>Ticket: Variable según proyecto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ANÁLISIS COMPETITIVO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83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5 Fuerzas de Porter — </a:t>
            </a:r>
            <a:r>
              <a:rPr sz="3000" b="1" i="0">
                <a:solidFill>
                  <a:srgbClr val="FFFF6A"/>
                </a:solidFill>
                <a:latin typeface="Calibri"/>
              </a:rPr>
              <a:t>Posición favorable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4206240" cy="129844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🚪  Amenaza de Nuevos Entrantes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904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Barreras técnicas y reputación local neutralizan freelancers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2948939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3931920" cy="7315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2948939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984248"/>
            <a:ext cx="1463040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8424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  <a:latin typeface="Calibri"/>
              </a:rPr>
              <a:t>ALTA — Mitigada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143000"/>
            <a:ext cx="4206240" cy="129844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23444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🏭  Poder de Proveedores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4904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Cloud abierto (AWS/GCP), herramientas open-source, sin dependencia crítica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1828800"/>
            <a:ext cx="9829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83480" y="1828800"/>
            <a:ext cx="3931920" cy="7315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3480" y="1828800"/>
            <a:ext cx="9829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3480" y="1984248"/>
            <a:ext cx="1463040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198424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  <a:latin typeface="Calibri"/>
              </a:rPr>
              <a:t>BAJO — Favorable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624328"/>
            <a:ext cx="4206240" cy="129844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71576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🛒  Poder de Compradores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PyMEs con alta necesidad y pocas alternativas locales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310128"/>
            <a:ext cx="1965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310128"/>
            <a:ext cx="3931920" cy="7315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310128"/>
            <a:ext cx="1965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465576"/>
            <a:ext cx="1463040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6557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MEDIA — Controlada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2624328"/>
            <a:ext cx="4206240" cy="129844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271576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🔄  Amenaza de Sustitutos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29718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No-code y SaaS genérico no cubren necesidades específicas de PyMEs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3480" y="3310128"/>
            <a:ext cx="176936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83480" y="3310128"/>
            <a:ext cx="3931920" cy="7315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83480" y="3310128"/>
            <a:ext cx="176936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83480" y="3465576"/>
            <a:ext cx="1463040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346557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MEDIA — Monitoreable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133087"/>
            <a:ext cx="8321040" cy="71323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169663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⚔️  Rivalidad del Sector: Alta competencia nacional (freelancers, agencias GDL/CDMX), pero NULA competencia local en Región Valles. SoftWaves es el único actor organizado y especializado en PyMEs locales. → VENTAJA CLAVE 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4169663"/>
            <a:ext cx="1234440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PORTAFOLIO DE PRODUCTOS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8328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4 productos. </a:t>
            </a:r>
            <a:r>
              <a:rPr sz="3400" b="1" i="0">
                <a:solidFill>
                  <a:srgbClr val="FFFF6A"/>
                </a:solidFill>
                <a:latin typeface="Calibri"/>
              </a:rPr>
              <a:t>Un ecosistema.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EC0"/>
                </a:solidFill>
                <a:latin typeface="Calibri"/>
              </a:rPr>
              <a:t>Cada producto responde a una necesidad distinta del mismo cliente. El objetivo es que el cliente entre por cualquier puerta y eventualmente use todo el ecosistema.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19072"/>
            <a:ext cx="4206240" cy="14173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4206240" cy="41148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01 — Proyecto Cerrado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214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Compra el software, queda como dueño. Pago único por proyecto completo.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2560320" cy="274320"/>
          </a:xfrm>
          <a:prstGeom prst="rect">
            <a:avLst/>
          </a:prstGeom>
          <a:solidFill>
            <a:srgbClr val="1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5968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6A"/>
                </a:solidFill>
                <a:latin typeface="Calibri"/>
              </a:rPr>
              <a:t>$15,000 – $120,000 MXN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719072"/>
            <a:ext cx="4206240" cy="14173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19072"/>
            <a:ext cx="4206240" cy="41148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02 — SaaS Renta Mensual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1214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Renta el software. Mantenimiento, hosting y actualizaciones incluidas.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2560320"/>
            <a:ext cx="2560320" cy="274320"/>
          </a:xfrm>
          <a:prstGeom prst="rect">
            <a:avLst/>
          </a:prstGeom>
          <a:solidFill>
            <a:srgbClr val="1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25968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6A"/>
                </a:solidFill>
                <a:latin typeface="Calibri"/>
              </a:rPr>
              <a:t>$2,500 – $12,000 MXN/mes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291839"/>
            <a:ext cx="4206240" cy="14173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291839"/>
            <a:ext cx="4206240" cy="41148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015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401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03 — Consultoría Tech.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6941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Asesoría especializada por hora. Diagnóstico gratuito de 30 min incluido.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133087"/>
            <a:ext cx="2560320" cy="274320"/>
          </a:xfrm>
          <a:prstGeom prst="rect">
            <a:avLst/>
          </a:prstGeom>
          <a:solidFill>
            <a:srgbClr val="1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169663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6A"/>
                </a:solidFill>
                <a:latin typeface="Calibri"/>
              </a:rPr>
              <a:t>$600 – $1,500 MXN/hr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291839"/>
            <a:ext cx="4206240" cy="14173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291839"/>
            <a:ext cx="4206240" cy="41148"/>
          </a:xfrm>
          <a:prstGeom prst="rect">
            <a:avLst/>
          </a:prstGeom>
          <a:solidFill>
            <a:srgbClr val="A21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34015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401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04 — IA Premium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6941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Automatización con inteligencia artificial integrada al sistema del cliente.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4133087"/>
            <a:ext cx="2560320" cy="274320"/>
          </a:xfrm>
          <a:prstGeom prst="rect">
            <a:avLst/>
          </a:prstGeom>
          <a:solidFill>
            <a:srgbClr val="1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4169663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6A"/>
                </a:solidFill>
                <a:latin typeface="Calibri"/>
              </a:rPr>
              <a:t>$1,500 – $8,000 MXN/mes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"/>
            <a:ext cx="1097280" cy="274320"/>
          </a:xfrm>
          <a:prstGeom prst="rect">
            <a:avLst/>
          </a:prstGeom>
          <a:solidFill>
            <a:srgbClr val="A21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2860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Producto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98448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Proyecto
</a:t>
            </a:r>
            <a:r>
              <a:rPr sz="2800" b="1" i="0">
                <a:solidFill>
                  <a:srgbClr val="FFFF6A"/>
                </a:solidFill>
                <a:latin typeface="Calibri"/>
              </a:rPr>
              <a:t>Cerrado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59152"/>
            <a:ext cx="54864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2743200" cy="411480"/>
          </a:xfrm>
          <a:prstGeom prst="rect">
            <a:avLst/>
          </a:prstGeom>
          <a:solidFill>
            <a:srgbClr val="1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5603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6A"/>
                </a:solidFill>
                <a:latin typeface="Calibri"/>
              </a:rPr>
              <a:t>$15K – $120K MXN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992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FF"/>
                </a:solidFill>
                <a:latin typeface="Calibri"/>
              </a:rPr>
              <a:t>Pago 50% al inicio · 50% en entrega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645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¿QUÉ 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6576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El cliente </a:t>
            </a:r>
            <a:r>
              <a:rPr sz="2400" b="1" i="0">
                <a:solidFill>
                  <a:srgbClr val="FFFF6A"/>
                </a:solidFill>
                <a:latin typeface="Calibri"/>
              </a:rPr>
              <a:t>compra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 y es dueño del sistema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132588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Sistema diseñado 100% a la medida del proceso del cliente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Al concluir: código fuente, documentación y manual de usuario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Transmisión formal de derechos de autor (INDAUTOR)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Garantía de 90 días post-entrega incluida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Capacitación de uso al equipo del cliente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Opción de contratar mantenimiento mensual post-entrega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3703320"/>
            <a:ext cx="5074920" cy="868680"/>
          </a:xfrm>
          <a:prstGeom prst="rect">
            <a:avLst/>
          </a:prstGeom>
          <a:solidFill>
            <a:srgbClr val="10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749039"/>
            <a:ext cx="4800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💡  ¿Cuándo conviene? Para empresas que quieren ser dueñas de su tecnología a largo plazo. Ideal para sistemas de gestión interna, plataformas de ventas o apps propias.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"/>
            <a:ext cx="2560320" cy="274320"/>
          </a:xfrm>
          <a:prstGeom prst="rect">
            <a:avLst/>
          </a:prstGeom>
          <a:solidFill>
            <a:srgbClr val="33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2860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Producto 02  ⭐ 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98448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SaaS
</a:t>
            </a:r>
            <a:r>
              <a:rPr sz="2400" b="1" i="0">
                <a:solidFill>
                  <a:srgbClr val="FFFF6A"/>
                </a:solidFill>
                <a:latin typeface="Calibri"/>
              </a:rPr>
              <a:t>Renta Mensual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59152"/>
            <a:ext cx="54864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2743200" cy="411480"/>
          </a:xfrm>
          <a:prstGeom prst="rect">
            <a:avLst/>
          </a:prstGeom>
          <a:solidFill>
            <a:srgbClr val="1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5603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6A"/>
                </a:solidFill>
                <a:latin typeface="Calibri"/>
              </a:rPr>
              <a:t>$2,500 – $12,000 MXN/mes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992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FF"/>
                </a:solidFill>
                <a:latin typeface="Calibri"/>
              </a:rPr>
              <a:t>30% al inicio + cuota mensual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37560"/>
            <a:ext cx="2743200" cy="566928"/>
          </a:xfrm>
          <a:prstGeom prst="rect">
            <a:avLst/>
          </a:prstGeom>
          <a:solidFill>
            <a:srgbClr val="20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649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A0AEC0"/>
                </a:solidFill>
                <a:latin typeface="Calibri"/>
              </a:rPr>
              <a:t>INGRESO RECURRENTE MENSUAL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66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6A"/>
                </a:solidFill>
                <a:latin typeface="Calibri"/>
              </a:rPr>
              <a:t>🔄  MRR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645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¿QUÉ 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6576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El cliente </a:t>
            </a:r>
            <a:r>
              <a:rPr sz="2400" b="1" i="0">
                <a:solidFill>
                  <a:srgbClr val="FFFF6A"/>
                </a:solidFill>
                <a:latin typeface="Calibri"/>
              </a:rPr>
              <a:t>renta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 — paga mensual, siempre actualizado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417320"/>
            <a:ext cx="5074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Hosting, respaldos automáticos y actualizaciones incluidas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Soporte técnico mensual — sin costos adicionales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Opción de compra total del sistema en cualquier momento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Acceso desde cualquier dispositivo con internet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Sin inversión inicial grande — barrera de entrada mínima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Contrato inicial de 12 meses, renovación automática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3657600"/>
            <a:ext cx="2423160" cy="111556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94760" y="3657600"/>
            <a:ext cx="2423160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749039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👤  Para el cliente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023360"/>
            <a:ext cx="2148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Bajo costo inicial, software siempre actualizado, soporte continuo.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657600"/>
            <a:ext cx="2560320" cy="111556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657600"/>
            <a:ext cx="2560320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7490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💼  Para SoftWaves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23360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Ingreso recurrente predecible. Cada cliente nuevo suma al MRR.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PORTAFOLIO COMPLEMENTARIO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832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Consultoría  </a:t>
            </a:r>
            <a:r>
              <a:rPr sz="3000" b="1" i="0">
                <a:solidFill>
                  <a:srgbClr val="FFFF6A"/>
                </a:solidFill>
                <a:latin typeface="Calibri"/>
              </a:rPr>
              <a:t>&amp;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  Inteligencia Artificial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70432"/>
            <a:ext cx="4206240" cy="352044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4206240" cy="41148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6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🔧  Consultoría Tecnológica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81912"/>
            <a:ext cx="2286000" cy="292608"/>
          </a:xfrm>
          <a:prstGeom prst="rect">
            <a:avLst/>
          </a:prstGeom>
          <a:solidFill>
            <a:srgbClr val="1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184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6A"/>
                </a:solidFill>
                <a:latin typeface="Calibri"/>
              </a:rPr>
              <a:t>$600 – $1,500 MXN/hr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56816"/>
            <a:ext cx="3840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Diagnóstico gratuito de 30 minutos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Análisis de procesos del negocio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Auditoría de sistemas existentes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Propuesta de solución + reporte ejecutivo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Puerta de entrada para proyectos mayores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170432"/>
            <a:ext cx="3886200" cy="352044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170432"/>
            <a:ext cx="3886200" cy="41148"/>
          </a:xfrm>
          <a:prstGeom prst="rect">
            <a:avLst/>
          </a:prstGeom>
          <a:solidFill>
            <a:srgbClr val="A21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261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🤖  IA Premium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581912"/>
            <a:ext cx="2286000" cy="292608"/>
          </a:xfrm>
          <a:prstGeom prst="rect">
            <a:avLst/>
          </a:prstGeom>
          <a:solidFill>
            <a:srgbClr val="1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6184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6A"/>
                </a:solidFill>
                <a:latin typeface="Calibri"/>
              </a:rPr>
              <a:t>$1,500 – $8,000 MXN/mes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1956816"/>
            <a:ext cx="3611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Predicción de ventas y análisis de datos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Atención automática a clientes (chatbot)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Recomendaciones de inventario por IA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Integración directa al sistema del cliente</a:t>
            </a:r>
          </a:p>
          <a:p>
            <a:pPr algn="l">
              <a:spcAft>
                <a:spcPts val="360"/>
              </a:spcAft>
            </a:pPr>
            <a:r>
              <a:rPr sz="950">
                <a:solidFill>
                  <a:srgbClr val="FFFF6A"/>
                </a:solidFill>
                <a:latin typeface="Calibri"/>
              </a:rPr>
              <a:t>▶  </a:t>
            </a:r>
            <a:r>
              <a:rPr sz="1050">
                <a:solidFill>
                  <a:srgbClr val="FFFFFF"/>
                </a:solidFill>
                <a:latin typeface="Calibri"/>
              </a:rPr>
              <a:t>Gratis para clientes SoftWaves existentes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solidFill>
            <a:srgbClr val="10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6A"/>
                </a:solidFill>
                <a:latin typeface="Calibri"/>
              </a:rPr>
              <a:t>🔗  Diferenciador: Consultoría → SaaS → IA Premium. El ecosistema crece con el cliente y aumenta el ticket promedio por cuenta.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MODELO DE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92608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Business Model </a:t>
            </a:r>
            <a:r>
              <a:rPr sz="2600" b="1" i="0">
                <a:solidFill>
                  <a:srgbClr val="FFFF6A"/>
                </a:solidFill>
                <a:latin typeface="Calibri"/>
              </a:rPr>
              <a:t>Canvas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05840"/>
            <a:ext cx="1627632" cy="13716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005840"/>
            <a:ext cx="1627632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6070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🤝 SOCIOS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80160"/>
            <a:ext cx="1444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AWS/Google/Azure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Freelancers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Contadores/Legales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Diseño 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1005840"/>
            <a:ext cx="1627632" cy="13716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56231" y="1005840"/>
            <a:ext cx="1627632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7672" y="106070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⚙️ ACTIVIDADES CLAVE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7672" y="1280160"/>
            <a:ext cx="1444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Desarrollo SW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Ventas/Prospección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Gestión proyectos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Soporte técnico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9583" y="1005840"/>
            <a:ext cx="2011680" cy="30175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9583" y="1005840"/>
            <a:ext cx="201168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3" y="10607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💎 PROPUESTA DE VALOR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3" y="1280160"/>
            <a:ext cx="182880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SW 60% más rápido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A la medida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Compra o renta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Soporte continuo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IA integrable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Único local Región Valles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Arquitectura escalable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86983" y="1005840"/>
            <a:ext cx="1627632" cy="13716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86983" y="1005840"/>
            <a:ext cx="1627632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78423" y="106070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💬 REL. CLIENTES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8423" y="1280160"/>
            <a:ext cx="1444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Soporte personalizado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Reuniones seguimiento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Capacitación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Portal tickets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0336" y="1005840"/>
            <a:ext cx="1627632" cy="13716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0336" y="1005840"/>
            <a:ext cx="1627632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106070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👥 SEGMENTOS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1280160"/>
            <a:ext cx="1444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PyMEs Región Valles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Microempresas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Empresas nacionales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Emprendedores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514600"/>
            <a:ext cx="1627632" cy="13716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2514600"/>
            <a:ext cx="1627632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56946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🛠️ RECURSOS CLAVE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2788920"/>
            <a:ext cx="1444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Equipo técnico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Biblioteca módulos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Marca/reputación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Infra. cloud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56231" y="2514600"/>
            <a:ext cx="1627632" cy="13716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56231" y="2514600"/>
            <a:ext cx="1627632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47672" y="256946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📡 CANALES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7672" y="2788920"/>
            <a:ext cx="1444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Referidos/boca a boca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LinkedIn/RRSS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Sitio web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Visitas presenciales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86983" y="2514600"/>
            <a:ext cx="1627632" cy="13716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86983" y="2514600"/>
            <a:ext cx="1627632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78423" y="256946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📡 CANALES (CONT.)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78423" y="2788920"/>
            <a:ext cx="1444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Diagnóstico gratuito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Proyectos piloto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Expo-Emprende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0336" y="2514600"/>
            <a:ext cx="1627632" cy="13716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60336" y="2514600"/>
            <a:ext cx="1627632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1775" y="256946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🔁 RETENCIÓN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51775" y="2788920"/>
            <a:ext cx="1444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NPS &gt; 70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Churn &lt; 5%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Upgrades IA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• Upsell SaaS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4005072"/>
            <a:ext cx="3931920" cy="84124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" y="4005072"/>
            <a:ext cx="3931920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4059936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💸 COSTOS: Honorarios equipo · Freelancers · Herramientas SaaS · Hosting · Oficina · Marketing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0" y="4005072"/>
            <a:ext cx="3931920" cy="84124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005072"/>
            <a:ext cx="39319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0" y="4059936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💰 INGRESOS: Proyectos cerrados (68%) · SaaS renta mensual (29%) · Consultoría hora (4%) · IA Premium (2%+)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PLAN DE CRECIMIENTO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3 fases hacia la </a:t>
            </a:r>
            <a:r>
              <a:rPr sz="3200" b="1" i="0">
                <a:solidFill>
                  <a:srgbClr val="FFFF6A"/>
                </a:solidFill>
                <a:latin typeface="Calibri"/>
              </a:rPr>
              <a:t>consolidación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7315200" cy="3657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554480"/>
            <a:ext cx="640080" cy="640080"/>
          </a:xfrm>
          <a:prstGeom prst="ellipse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317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6A"/>
                </a:solidFill>
                <a:latin typeface="Calibri"/>
              </a:rPr>
              <a:t>Fundación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6517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0AEC0"/>
                </a:solidFill>
                <a:latin typeface="Calibri"/>
              </a:rPr>
              <a:t>FASE 1 ·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79" y="2944368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Constitución legal · Plan de negocios
Primeros contratos piloto
Arquitectura de microservicios</a:t>
            </a:r>
          </a:p>
        </p:txBody>
      </p:sp>
      <p:sp>
        <p:nvSpPr>
          <p:cNvPr id="14" name="Oval 13"/>
          <p:cNvSpPr/>
          <p:nvPr/>
        </p:nvSpPr>
        <p:spPr>
          <a:xfrm>
            <a:off x="4005072" y="1554480"/>
            <a:ext cx="640080" cy="640080"/>
          </a:xfrm>
          <a:prstGeom prst="ellipse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5072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23317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6A"/>
                </a:solidFill>
                <a:latin typeface="Calibri"/>
              </a:rPr>
              <a:t>Lanzamiento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26517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0AEC0"/>
                </a:solidFill>
                <a:latin typeface="Calibri"/>
              </a:rPr>
              <a:t>FASE 2 · 2026 — ACTIVA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44368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Lanzamiento oficial · 3–8 clientes
SaaS en producción · Expo-Emprende
Posicionamiento regional</a:t>
            </a:r>
          </a:p>
        </p:txBody>
      </p:sp>
      <p:sp>
        <p:nvSpPr>
          <p:cNvPr id="19" name="Oval 18"/>
          <p:cNvSpPr/>
          <p:nvPr/>
        </p:nvSpPr>
        <p:spPr>
          <a:xfrm>
            <a:off x="7022592" y="1554480"/>
            <a:ext cx="640080" cy="640080"/>
          </a:xfrm>
          <a:prstGeom prst="ellipse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3317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6A"/>
                </a:solidFill>
                <a:latin typeface="Calibri"/>
              </a:rPr>
              <a:t>Expansión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6517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0AEC0"/>
                </a:solidFill>
                <a:latin typeface="Calibri"/>
              </a:rPr>
              <a:t>FASE 3 · 2027–2028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44368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Expansión nacional · 8+ personas
Ingresos &gt;$1M MXN
Producto SaaS propio escalable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005072"/>
            <a:ext cx="2788920" cy="84124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2788920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78224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14BA0"/>
                </a:solidFill>
                <a:latin typeface="Calibri"/>
              </a:rPr>
              <a:t>$281K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535424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EC0"/>
                </a:solidFill>
                <a:latin typeface="Calibri"/>
              </a:rPr>
              <a:t>Inversión Fase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4005072"/>
            <a:ext cx="2788920" cy="84124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7560" y="4005072"/>
            <a:ext cx="2788920" cy="36576"/>
          </a:xfrm>
          <a:prstGeom prst="rect">
            <a:avLst/>
          </a:prstGeom>
          <a:solidFill>
            <a:srgbClr val="A21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4078224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A21AD7"/>
                </a:solidFill>
                <a:latin typeface="Calibri"/>
              </a:rPr>
              <a:t>$733K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535424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EC0"/>
                </a:solidFill>
                <a:latin typeface="Calibri"/>
              </a:rPr>
              <a:t>Meta ingresos Año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005072"/>
            <a:ext cx="2788920" cy="84124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005072"/>
            <a:ext cx="278892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078224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6A"/>
                </a:solidFill>
                <a:latin typeface="Calibri"/>
              </a:rPr>
              <a:t>$1M+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535424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EC0"/>
                </a:solidFill>
                <a:latin typeface="Calibri"/>
              </a:rPr>
              <a:t>Meta ingresos Año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OPERACIONES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Flujo de trabajo
</a:t>
            </a:r>
            <a:r>
              <a:rPr sz="2200" b="1" i="0">
                <a:solidFill>
                  <a:srgbClr val="FFFF6A"/>
                </a:solidFill>
                <a:latin typeface="Calibri"/>
              </a:rPr>
              <a:t>por proyecto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45920"/>
            <a:ext cx="54864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2880360" cy="1389888"/>
          </a:xfrm>
          <a:prstGeom prst="rect">
            <a:avLst/>
          </a:prstGeom>
          <a:solidFill>
            <a:srgbClr val="07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2880360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26974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Modelo de personal flexible
SoftWaves no mantiene plantilla fija. Los colaboradores externos se contratan por proyecto — solo se paga por lo que se genera.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0" y="274320"/>
            <a:ext cx="320040" cy="320040"/>
          </a:xfrm>
          <a:prstGeom prst="ellipse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74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74320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Contacto y diagnóstico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548640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Reunión gratuita 30 min. Propuesta formal en 48 hrs.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03904" y="612648"/>
            <a:ext cx="27432" cy="30175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57600" y="1078992"/>
            <a:ext cx="320040" cy="320040"/>
          </a:xfrm>
          <a:prstGeom prst="ellipse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10789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1078992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Firma y primer pago (50%)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1353312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Contrato con alcance definido. Control de cambios formal.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03904" y="1417320"/>
            <a:ext cx="27432" cy="30175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57600" y="1883664"/>
            <a:ext cx="320040" cy="320040"/>
          </a:xfrm>
          <a:prstGeom prst="ellipse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18836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1883664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Integración del equipo técnico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2157984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Freelancers según complejidad. Solo perfiles necesarios.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03904" y="2221992"/>
            <a:ext cx="27432" cy="30175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57600" y="2688336"/>
            <a:ext cx="320040" cy="320040"/>
          </a:xfrm>
          <a:prstGeom prst="ellipse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26883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2688336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Desarrollo iterativo (sprints ~2 sem)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2962656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Revisiones con el cliente. Ajustes en tiempo real.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03904" y="3026664"/>
            <a:ext cx="27432" cy="30175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57600" y="3493008"/>
            <a:ext cx="320040" cy="320040"/>
          </a:xfrm>
          <a:prstGeom prst="ellipse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34930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3493008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Control de calidad y pruebas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3767328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Supervisión Jefe de Desarrollo. Documentación completa.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03904" y="3831336"/>
            <a:ext cx="27432" cy="30175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57600" y="4297680"/>
            <a:ext cx="320040" cy="320040"/>
          </a:xfrm>
          <a:prstGeom prst="ellipse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4297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4297680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Entrega, capacitación y mantenimiento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4572000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Pago final (50%). Capacitación. Contrato soporte mensual.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EQUIPO FUNDADOR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4 perfiles, </a:t>
            </a:r>
            <a:r>
              <a:rPr sz="3000" b="1" i="0">
                <a:solidFill>
                  <a:srgbClr val="FFFF6A"/>
                </a:solidFill>
                <a:latin typeface="Calibri"/>
              </a:rPr>
              <a:t>cero brechas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 en las áreas críticas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70432"/>
            <a:ext cx="4206240" cy="166420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4206240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" y="1335024"/>
            <a:ext cx="594360" cy="594360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33502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Ing. Ignacio Andrade Salazar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51790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6A"/>
                </a:solidFill>
                <a:latin typeface="Calibri"/>
              </a:rPr>
              <a:t>CEO &amp; Fundador — Dirección General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Lic. Administración · Ing. Electrónica y Computación · M.I.S. en curso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24688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  <a:latin typeface="Calibri"/>
              </a:rPr>
              <a:t>[Estrategia]  [Ventas]  [Full-stack]  [Gestión]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170432"/>
            <a:ext cx="4206240" cy="166420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170432"/>
            <a:ext cx="4206240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10912" y="1335024"/>
            <a:ext cx="594360" cy="594360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133502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1280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Mtro. Martín J. Andrade Salazar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151790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6A"/>
                </a:solidFill>
                <a:latin typeface="Calibri"/>
              </a:rPr>
              <a:t>Jefe de Desarrollo — Backend &amp;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Lic. Tecnologías de la Información · Maestro en Ingeniería de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24688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  <a:latin typeface="Calibri"/>
              </a:rPr>
              <a:t>[Backend]  [Frontend]  [Arquitectura]  [M.I.S.]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044952"/>
            <a:ext cx="4206240" cy="166420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044952"/>
            <a:ext cx="4206240" cy="36576"/>
          </a:xfrm>
          <a:prstGeom prst="rect">
            <a:avLst/>
          </a:prstGeom>
          <a:solidFill>
            <a:srgbClr val="14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" y="3209544"/>
            <a:ext cx="594360" cy="594360"/>
          </a:xfrm>
          <a:prstGeom prst="rect">
            <a:avLst/>
          </a:prstGeom>
          <a:solidFill>
            <a:srgbClr val="14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320954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1546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Ing. Edgar G. Guerrero Santana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3924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6A"/>
                </a:solidFill>
                <a:latin typeface="Calibri"/>
              </a:rPr>
              <a:t>Diseño UI/UX &amp; Marketing Digital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Ing. Electrónica y Computación · Certificación en Diseño UI/UX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43434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  <a:latin typeface="Calibri"/>
              </a:rPr>
              <a:t>[UI/UX]  [Branding]  [Marketing]  [Diseño]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044952"/>
            <a:ext cx="4206240" cy="166420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044952"/>
            <a:ext cx="4206240" cy="36576"/>
          </a:xfrm>
          <a:prstGeom prst="rect">
            <a:avLst/>
          </a:prstGeom>
          <a:solidFill>
            <a:srgbClr val="1B0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10912" y="3209544"/>
            <a:ext cx="594360" cy="594360"/>
          </a:xfrm>
          <a:prstGeom prst="rect">
            <a:avLst/>
          </a:prstGeom>
          <a:solidFill>
            <a:srgbClr val="1B0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20954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31546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Fut. Ing. Evelyn M. Ortiz Fajardo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33924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6A"/>
                </a:solidFill>
                <a:latin typeface="Calibri"/>
              </a:rPr>
              <a:t>Recursos Humanos &amp; Gestión de Personal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Ing. Instrumentación Electrónica y Nanosensores · Diplomado en RRHH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0912" y="43434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  <a:latin typeface="Calibri"/>
              </a:rPr>
              <a:t>[RRHH]  [Contratos]  [Clima org.]  [Reclutamiento]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PLAN FINANCIERO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Inversión
Inicial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44752"/>
            <a:ext cx="54864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2834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6A"/>
                </a:solidFill>
                <a:latin typeface="Calibri"/>
              </a:rPr>
              <a:t>$281,000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23160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  <a:latin typeface="Calibri"/>
              </a:rPr>
              <a:t>MXN · Capital propio de los 4 socios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34640"/>
            <a:ext cx="2834640" cy="65836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889504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SIN FINANCIAMIENTO EXTERNO
Los 4 socios aportan capital en partes iguales ($70,250 c/u). La empresa inicia libre de deuda.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645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DISTRIBUCIÓN DE LA INVERSIÓN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474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¿En qué se invierte?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86868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💻 Equipos de cómputo (4 laptops pro)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868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6A"/>
                </a:solidFill>
                <a:latin typeface="Calibri"/>
              </a:rPr>
              <a:t>$132,000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1124712"/>
            <a:ext cx="4983480" cy="914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4760" y="1124712"/>
            <a:ext cx="2342235" cy="91440"/>
          </a:xfrm>
          <a:prstGeom prst="rect">
            <a:avLst/>
          </a:prstGeom>
          <a:solidFill>
            <a:srgbClr val="14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155448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🏢 Oficina (depósito + adecuaciones)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15544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6A"/>
                </a:solidFill>
                <a:latin typeface="Calibri"/>
              </a:rPr>
              <a:t>$49,000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1810512"/>
            <a:ext cx="4983480" cy="914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4760" y="1810512"/>
            <a:ext cx="847191" cy="91440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224028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📣 Marketing y constitución legal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2402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6A"/>
                </a:solidFill>
                <a:latin typeface="Calibri"/>
              </a:rPr>
              <a:t>$65,500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2496312"/>
            <a:ext cx="4983480" cy="914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496312"/>
            <a:ext cx="1146200" cy="91440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292608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💼 Capital de trabajo (2 meses)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9260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6A"/>
                </a:solidFill>
                <a:latin typeface="Calibri"/>
              </a:rPr>
              <a:t>$26,000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3182112"/>
            <a:ext cx="4983480" cy="914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94760" y="3182112"/>
            <a:ext cx="448513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361188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🖥️ Software/hosting/dominio 1er año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6118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6A"/>
                </a:solidFill>
                <a:latin typeface="Calibri"/>
              </a:rPr>
              <a:t>$8,500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3867912"/>
            <a:ext cx="4983480" cy="914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94760" y="3867912"/>
            <a:ext cx="149504" cy="91440"/>
          </a:xfrm>
          <a:prstGeom prst="rect">
            <a:avLst/>
          </a:prstGeom>
          <a:solidFill>
            <a:srgbClr val="14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94760" y="4389120"/>
            <a:ext cx="5074920" cy="475488"/>
          </a:xfrm>
          <a:prstGeom prst="rect">
            <a:avLst/>
          </a:prstGeom>
          <a:solidFill>
            <a:srgbClr val="05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4453128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Calibri"/>
              </a:rPr>
              <a:t>📊 Punto de equilibrio: Mes 7–8  ·  Recuperación de inversión: ~18 meses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PROYECCIÓN DE VENTAS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383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Año 1: </a:t>
            </a:r>
            <a:r>
              <a:rPr sz="2800" b="1" i="0">
                <a:solidFill>
                  <a:srgbClr val="FFFF6A"/>
                </a:solidFill>
                <a:latin typeface="Calibri"/>
              </a:rPr>
              <a:t>$733,000 MXN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 — Desglose por producto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2560320" cy="274320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115568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Producto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078992"/>
            <a:ext cx="914400" cy="274320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11155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Unidades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078992"/>
            <a:ext cx="1188720" cy="274320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0791" y="11155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Precio prom.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79" y="1078992"/>
            <a:ext cx="1097280" cy="274320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1" y="1115568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Ingreso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1078992"/>
            <a:ext cx="594360" cy="274320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111556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389888"/>
            <a:ext cx="2560320" cy="34747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1453896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🖥️ Proyecto Cerrado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389888"/>
            <a:ext cx="914400" cy="34747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2384" y="1453896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9 proyectos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39" y="1389888"/>
            <a:ext cx="1188720" cy="34747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32503" y="1453896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$55,000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79" y="1389888"/>
            <a:ext cx="1097280" cy="34747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66943" y="1453896"/>
            <a:ext cx="1024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6A"/>
                </a:solidFill>
                <a:latin typeface="Calibri"/>
              </a:rPr>
              <a:t>$495,000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79" y="1389888"/>
            <a:ext cx="594360" cy="34747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3" y="1453896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68%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1773936"/>
            <a:ext cx="2560320" cy="34747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" y="1837943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☁️ SaaS Renta Mensual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1773936"/>
            <a:ext cx="914400" cy="34747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72384" y="1837943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2→8 clientes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1773936"/>
            <a:ext cx="1188720" cy="34747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3" y="1837943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$4,500/mes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79" y="1773936"/>
            <a:ext cx="1097280" cy="34747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66943" y="1837943"/>
            <a:ext cx="1024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6A"/>
                </a:solidFill>
                <a:latin typeface="Calibri"/>
              </a:rPr>
              <a:t>$216,000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79" y="1773936"/>
            <a:ext cx="594360" cy="34747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3" y="1837943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29%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157984"/>
            <a:ext cx="2560320" cy="34747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" y="2221991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🔧 Consultoría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2157984"/>
            <a:ext cx="914400" cy="34747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72384" y="2221991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~30 horas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2157984"/>
            <a:ext cx="1188720" cy="34747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3" y="2221991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$900/hr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79" y="2157984"/>
            <a:ext cx="1097280" cy="34747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66943" y="2221991"/>
            <a:ext cx="1024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6A"/>
                </a:solidFill>
                <a:latin typeface="Calibri"/>
              </a:rPr>
              <a:t>$27,000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79" y="2157984"/>
            <a:ext cx="594360" cy="34747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9943" y="2221991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2542032"/>
            <a:ext cx="2560320" cy="34747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4" y="2606040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🤖 IA Premium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2542032"/>
            <a:ext cx="914400" cy="34747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72384" y="2606040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3 clientes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77639" y="2542032"/>
            <a:ext cx="1188720" cy="34747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32503" y="2606040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$1,500/mes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79" y="2542032"/>
            <a:ext cx="1097280" cy="34747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66943" y="2606040"/>
            <a:ext cx="1024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6A"/>
                </a:solidFill>
                <a:latin typeface="Calibri"/>
              </a:rPr>
              <a:t>$13,500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79" y="2542032"/>
            <a:ext cx="594360" cy="34747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9943" y="2606040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EC0"/>
                </a:solidFill>
                <a:latin typeface="Calibri"/>
              </a:rPr>
              <a:t>2%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2926080"/>
            <a:ext cx="2560320" cy="347472"/>
          </a:xfrm>
          <a:prstGeom prst="rect">
            <a:avLst/>
          </a:prstGeom>
          <a:solidFill>
            <a:srgbClr val="01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" y="2990088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6A"/>
                </a:solidFill>
                <a:latin typeface="Calibri"/>
              </a:rPr>
              <a:t>TOTAL AÑO 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2926080"/>
            <a:ext cx="914400" cy="347472"/>
          </a:xfrm>
          <a:prstGeom prst="rect">
            <a:avLst/>
          </a:prstGeom>
          <a:solidFill>
            <a:srgbClr val="01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72384" y="299008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6A"/>
                </a:solidFill>
                <a:latin typeface="Calibri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3977639" y="2926080"/>
            <a:ext cx="1188720" cy="347472"/>
          </a:xfrm>
          <a:prstGeom prst="rect">
            <a:avLst/>
          </a:prstGeom>
          <a:solidFill>
            <a:srgbClr val="01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32503" y="2990088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6A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212079" y="2926080"/>
            <a:ext cx="1097280" cy="347472"/>
          </a:xfrm>
          <a:prstGeom prst="rect">
            <a:avLst/>
          </a:prstGeom>
          <a:solidFill>
            <a:srgbClr val="01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66943" y="2990088"/>
            <a:ext cx="1024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6A"/>
                </a:solidFill>
                <a:latin typeface="Calibri"/>
              </a:rPr>
              <a:t>$733,000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55079" y="2926080"/>
            <a:ext cx="594360" cy="347472"/>
          </a:xfrm>
          <a:prstGeom prst="rect">
            <a:avLst/>
          </a:prstGeom>
          <a:solidFill>
            <a:srgbClr val="01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9943" y="2990088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6A"/>
                </a:solidFill>
                <a:latin typeface="Calibri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3273552"/>
            <a:ext cx="6492240" cy="25603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31012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Trimestre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31720" y="331012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Proyectos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94760" y="331012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Clientes SaaS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57800" y="331012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Ingreso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3566160"/>
            <a:ext cx="6492240" cy="2743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3602736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Q1 Ene–Mar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31720" y="3602736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94760" y="3602736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2 activos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57800" y="3602736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6A"/>
                </a:solidFill>
                <a:latin typeface="Calibri"/>
              </a:rPr>
              <a:t>$102,000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3858768"/>
            <a:ext cx="6492240" cy="27432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389534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Q2 Abr–Jun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31720" y="389534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94760" y="389534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4 activos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57800" y="389534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6A"/>
                </a:solidFill>
                <a:latin typeface="Calibri"/>
              </a:rPr>
              <a:t>$145,000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" y="4151376"/>
            <a:ext cx="6492240" cy="27432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4187952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Q3 Jul–Sep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31720" y="4187952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94760" y="4187952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6 activos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57800" y="4187952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6A"/>
                </a:solidFill>
                <a:latin typeface="Calibri"/>
              </a:rPr>
              <a:t>$212,000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" y="4443983"/>
            <a:ext cx="6492240" cy="27432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" y="4480559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Q4 Oct–Dic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31720" y="4480559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94760" y="4480559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8 activos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57800" y="4480559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6A"/>
                </a:solidFill>
                <a:latin typeface="Calibri"/>
              </a:rPr>
              <a:t>$274,000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95160" y="1078992"/>
            <a:ext cx="1920240" cy="129844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95160" y="1078992"/>
            <a:ext cx="1920240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95160" y="114300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A0AEC0"/>
                </a:solidFill>
                <a:latin typeface="Calibri"/>
              </a:rPr>
              <a:t>PROYECCIÓN 3 AÑOS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22592" y="135331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66C3"/>
                </a:solidFill>
                <a:latin typeface="Calibri"/>
              </a:rPr>
              <a:t>$733K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22592" y="1737360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AEC0"/>
                </a:solidFill>
                <a:latin typeface="Calibri"/>
              </a:rPr>
              <a:t>Año 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16952" y="135331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21AD7"/>
                </a:solidFill>
                <a:latin typeface="Calibri"/>
              </a:rPr>
              <a:t>$1.34M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16952" y="1737360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AEC0"/>
                </a:solidFill>
                <a:latin typeface="Calibri"/>
              </a:rPr>
              <a:t>Año 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11312" y="135331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6A"/>
                </a:solidFill>
                <a:latin typeface="Calibri"/>
              </a:rPr>
              <a:t>$2.16M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11312" y="1737360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AEC0"/>
                </a:solidFill>
                <a:latin typeface="Calibri"/>
              </a:rPr>
              <a:t>Año 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995160" y="2487168"/>
            <a:ext cx="1920240" cy="102412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995160" y="2487168"/>
            <a:ext cx="1920240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32320" y="25786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🔄  Poder del MRR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32320" y="28529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Los 8 clientes SaaS del Año 1 generan ingresos recurrentes permanentes — cada año se suman más.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995160" y="3584448"/>
            <a:ext cx="1920240" cy="102412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95160" y="3584448"/>
            <a:ext cx="192024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32320" y="3675887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📈  Por qué P.Cerrado domina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132320" y="395020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Ticket alto ($55K prom). Solo 9 proyectos = $495K. Ideal para construir flujo de caja inicial.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INDICADORES DE DESEMPEÑO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KPIs que </a:t>
            </a:r>
            <a:r>
              <a:rPr sz="3000" b="1" i="0">
                <a:solidFill>
                  <a:srgbClr val="FFFF6A"/>
                </a:solidFill>
                <a:latin typeface="Calibri"/>
              </a:rPr>
              <a:t>guían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 cada decisión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2743200" cy="166420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274320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6A"/>
                </a:solidFill>
                <a:latin typeface="Calibri"/>
              </a:rPr>
              <a:t>MRR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013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Ingreso Mensual Recurrente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1226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Meta: $36,000 MXN/mes al cierre del Año 1
(8 clientes SaaS × $4,500 prom).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143000"/>
            <a:ext cx="2743200" cy="166420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143000"/>
            <a:ext cx="2743200" cy="36576"/>
          </a:xfrm>
          <a:prstGeom prst="rect">
            <a:avLst/>
          </a:prstGeom>
          <a:solidFill>
            <a:srgbClr val="A21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234440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21AD7"/>
                </a:solidFill>
                <a:latin typeface="Calibri"/>
              </a:rPr>
              <a:t>CAC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8013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Costo de Adquisición de Cliente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1226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Meta: &lt;$3,500 MXN por cliente.
Gasto en marketing ÷ clientes cerrados.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143000"/>
            <a:ext cx="2743200" cy="166420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143000"/>
            <a:ext cx="2743200" cy="36576"/>
          </a:xfrm>
          <a:prstGeom prst="rect">
            <a:avLst/>
          </a:prstGeom>
          <a:solidFill>
            <a:srgbClr val="527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234440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275C8"/>
                </a:solidFill>
                <a:latin typeface="Calibri"/>
              </a:rPr>
              <a:t>LTV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013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Valor de Vida del Cliente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1226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Meta: &gt;$80,000 MXN (cliente SaaS 18+ meses).
LTV/CAC objetivo: 20x mínimo.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017520"/>
            <a:ext cx="2743200" cy="166420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017520"/>
            <a:ext cx="27432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108960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2C55E"/>
                </a:solidFill>
                <a:latin typeface="Calibri"/>
              </a:rPr>
              <a:t>≤6s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75887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Lead Time de Entrega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986783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Meta: proyectos en ≤6 semanas vs. 12–16 sem del mercado.
Indicador de ventaja competitiva.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017520"/>
            <a:ext cx="2743200" cy="166420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7560" y="3017520"/>
            <a:ext cx="274320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3108960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6A"/>
                </a:solidFill>
                <a:latin typeface="Calibri"/>
              </a:rPr>
              <a:t>NPS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675887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Net Promoter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986783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Meta: NPS &gt;70. Medido post-entrega.
Alto NPS = referidos que reducen el CAC.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017520"/>
            <a:ext cx="2743200" cy="166420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017520"/>
            <a:ext cx="2743200" cy="36576"/>
          </a:xfrm>
          <a:prstGeom prst="rect">
            <a:avLst/>
          </a:prstGeom>
          <a:solidFill>
            <a:srgbClr val="A21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108960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21AD7"/>
                </a:solidFill>
                <a:latin typeface="Calibri"/>
              </a:rPr>
              <a:t>Churn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675887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Cancelación SaaS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986783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Meta: &lt;5% mensual.
Soporte proactivo y actualizaciones lo minimizan.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FINANCIAMIENTO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Capital
</a:t>
            </a:r>
            <a:r>
              <a:rPr sz="3000" b="1" i="0">
                <a:solidFill>
                  <a:srgbClr val="FFFF6A"/>
                </a:solidFill>
                <a:latin typeface="Calibri"/>
              </a:rPr>
              <a:t>propio.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
Sin deuda.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10512"/>
            <a:ext cx="54864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3852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FF"/>
                </a:solidFill>
                <a:latin typeface="Calibri"/>
              </a:rPr>
              <a:t>La inversión de $281,000 MXN es aportada en partes iguales por los 4 socios fundadores. No se requiere crédito ni inversionista externo para arrancar.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88920"/>
            <a:ext cx="2834640" cy="777240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8346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A0AEC0"/>
                </a:solidFill>
                <a:latin typeface="Calibri"/>
              </a:rPr>
              <a:t>APORTACIÓN POR SOCIO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6324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6A"/>
                </a:solidFill>
                <a:latin typeface="Calibri"/>
              </a:rPr>
              <a:t>$70,250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9300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EC0"/>
                </a:solidFill>
                <a:latin typeface="Calibri"/>
              </a:rPr>
              <a:t>MXN por fundador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645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OPCIONES FUTURAS (AÑO 2–3)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4747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Plan de financiamiento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8046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6A"/>
                </a:solidFill>
                <a:latin typeface="Calibr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822960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Reinversión de utilidades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09728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Las utilidades del Año 2 financian la expansión del Año 3 sin perder participación accionaria.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627632"/>
            <a:ext cx="507492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6A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1847088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Programas gubernamentales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121408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INADEM, Fondo Jalisco Emprende, CONACYT. Fondos no reembolsables para empresas tecnológicas.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2651760"/>
            <a:ext cx="507492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28529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6A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2871216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Crédito PyME Bancario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145536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Una vez con historial crediticio (Año 2+), acceso a créditos PYME para expansión de equipo.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94760" y="3675888"/>
            <a:ext cx="507492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38770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6A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89534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Inversión ángel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16966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Calibri"/>
              </a:rPr>
              <a:t>Solo si se desarrolla un SaaS propio escalable que requiera capital para crecer.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GESTIÓN DE RIESGOS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383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Riesgos identificados  </a:t>
            </a:r>
            <a:r>
              <a:rPr sz="2800" b="1" i="0">
                <a:solidFill>
                  <a:srgbClr val="FFFF6A"/>
                </a:solidFill>
                <a:latin typeface="Calibri"/>
              </a:rPr>
              <a:t>&amp; plan de contingencia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777240" cy="658368"/>
          </a:xfrm>
          <a:prstGeom prst="rect">
            <a:avLst/>
          </a:prstGeom>
          <a:solidFill>
            <a:srgbClr val="1D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9844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4444"/>
                </a:solidFill>
                <a:latin typeface="Calibri"/>
              </a:rPr>
              <a:t>ALTO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98448" y="1097280"/>
            <a:ext cx="7479792" cy="65836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6464" y="114300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Captación lenta de 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389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Primeros meses sin ingresos suficientes para cubrir costos fijos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114300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CONTINGENCIA: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135331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Networking intensivo · Primer proyecto a precio especial · Diagnóstico gratuito como gancho · Fondo de 2 meses reservado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874519"/>
            <a:ext cx="777240" cy="658368"/>
          </a:xfrm>
          <a:prstGeom prst="rect">
            <a:avLst/>
          </a:prstGeom>
          <a:solidFill>
            <a:srgbClr val="1D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07568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4444"/>
                </a:solidFill>
                <a:latin typeface="Calibri"/>
              </a:rPr>
              <a:t>ALTO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8448" y="1874519"/>
            <a:ext cx="7479792" cy="65836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26464" y="192023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Saturación del equipo fundador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21671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4 personas no pueden atender proyectos múltiples a gran escala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1920239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CONTINGENCIA: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213055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Límite de 3 proyectos simultáneos · Red de freelancers pre-calificados · Incremento de precios si demanda supera capacidad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651760"/>
            <a:ext cx="777240" cy="658368"/>
          </a:xfrm>
          <a:prstGeom prst="rect">
            <a:avLst/>
          </a:prstGeom>
          <a:solidFill>
            <a:srgbClr val="1E1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85292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Calibri"/>
              </a:rPr>
              <a:t>MEDIO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98448" y="2651760"/>
            <a:ext cx="7479792" cy="65836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6464" y="269747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Scope creep en proyectos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2944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Clientes que piden más funciones de las contratadas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2697479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CONTINGENCIA: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2907791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Contratos con alcance técnico detallado · Política de control de cambios formal · Addendum firmado para cambios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429000"/>
            <a:ext cx="777240" cy="658368"/>
          </a:xfrm>
          <a:prstGeom prst="rect">
            <a:avLst/>
          </a:prstGeom>
          <a:solidFill>
            <a:srgbClr val="1E1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63016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Calibri"/>
              </a:rPr>
              <a:t>MEDIO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98448" y="3429000"/>
            <a:ext cx="7479792" cy="65836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26464" y="347472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Cancelación de contratos SaaS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6464" y="3721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Clientes que cancelan reducen el MRR y afectan proyecciones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347472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CONTINGENCIA: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58768" y="368503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Soporte proactivo mensual · Actualizaciones constantes · Encuesta NPS para detectar clientes en riesgo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206240"/>
            <a:ext cx="777240" cy="658368"/>
          </a:xfrm>
          <a:prstGeom prst="rect">
            <a:avLst/>
          </a:prstGeom>
          <a:solidFill>
            <a:srgbClr val="041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407407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C55E"/>
                </a:solidFill>
                <a:latin typeface="Calibri"/>
              </a:rPr>
              <a:t>BAJO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8448" y="4206240"/>
            <a:ext cx="7479792" cy="65836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26464" y="425195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Entrada de competidores locales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" y="4498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Nuevos actores que repliquen el modelo en la Región Valles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8768" y="4251959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CONTINGENCIA: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446227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Calibri"/>
              </a:rPr>
              <a:t>Construcción de reputación y cartera desde el Año 1 · Ser primeros · Biblioteca de módulos como barrera técnica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VIABILIDAD FINANCIERA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"/>
            <a:ext cx="29260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Los números
</a:t>
            </a:r>
            <a:r>
              <a:rPr sz="2600" b="1" i="0">
                <a:solidFill>
                  <a:srgbClr val="FFFF6A"/>
                </a:solidFill>
                <a:latin typeface="Calibri"/>
              </a:rPr>
              <a:t>respaldan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
el proyecto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54864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83664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900">
                <a:solidFill>
                  <a:srgbClr val="FFFF6A"/>
                </a:solidFill>
                <a:latin typeface="Calibri"/>
              </a:rPr>
              <a:t>▶  </a:t>
            </a:r>
            <a:r>
              <a:rPr sz="1000">
                <a:solidFill>
                  <a:srgbClr val="FFFFFF"/>
                </a:solidFill>
                <a:latin typeface="Calibri"/>
              </a:rPr>
              <a:t>VPN positivo a 3 años con descuento del 20%</a:t>
            </a:r>
          </a:p>
          <a:p>
            <a:pPr algn="l">
              <a:spcAft>
                <a:spcPts val="360"/>
              </a:spcAft>
            </a:pPr>
            <a:r>
              <a:rPr sz="900">
                <a:solidFill>
                  <a:srgbClr val="FFFF6A"/>
                </a:solidFill>
                <a:latin typeface="Calibri"/>
              </a:rPr>
              <a:t>▶  </a:t>
            </a:r>
            <a:r>
              <a:rPr sz="1000">
                <a:solidFill>
                  <a:srgbClr val="FFFFFF"/>
                </a:solidFill>
                <a:latin typeface="Calibri"/>
              </a:rPr>
              <a:t>TIR alta — sector software tiene márgenes elevados</a:t>
            </a:r>
          </a:p>
          <a:p>
            <a:pPr algn="l">
              <a:spcAft>
                <a:spcPts val="360"/>
              </a:spcAft>
            </a:pPr>
            <a:r>
              <a:rPr sz="900">
                <a:solidFill>
                  <a:srgbClr val="FFFF6A"/>
                </a:solidFill>
                <a:latin typeface="Calibri"/>
              </a:rPr>
              <a:t>▶  </a:t>
            </a:r>
            <a:r>
              <a:rPr sz="1000">
                <a:solidFill>
                  <a:srgbClr val="FFFFFF"/>
                </a:solidFill>
                <a:latin typeface="Calibri"/>
              </a:rPr>
              <a:t>Punto de equilibrio antes del mes 8</a:t>
            </a:r>
          </a:p>
          <a:p>
            <a:pPr algn="l">
              <a:spcAft>
                <a:spcPts val="360"/>
              </a:spcAft>
            </a:pPr>
            <a:r>
              <a:rPr sz="900">
                <a:solidFill>
                  <a:srgbClr val="FFFF6A"/>
                </a:solidFill>
                <a:latin typeface="Calibri"/>
              </a:rPr>
              <a:t>▶  </a:t>
            </a:r>
            <a:r>
              <a:rPr sz="1000">
                <a:solidFill>
                  <a:srgbClr val="FFFFFF"/>
                </a:solidFill>
                <a:latin typeface="Calibri"/>
              </a:rPr>
              <a:t>Relación Beneficio/Costo superior a 4.8x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201168"/>
            <a:ext cx="2286000" cy="117043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1330452"/>
            <a:ext cx="2286000" cy="41148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92608"/>
            <a:ext cx="2286000" cy="6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6A"/>
                </a:solidFill>
                <a:latin typeface="Calibri"/>
              </a:rPr>
              <a:t>Mes 7–8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903427"/>
            <a:ext cx="2103120" cy="42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AEC0"/>
                </a:solidFill>
                <a:latin typeface="Calibri"/>
              </a:rPr>
              <a:t>Punto de equilibrio operativo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201168"/>
            <a:ext cx="2286000" cy="117043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79" y="1330452"/>
            <a:ext cx="2286000" cy="41148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292608"/>
            <a:ext cx="2286000" cy="6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6A"/>
                </a:solidFill>
                <a:latin typeface="Calibri"/>
              </a:rPr>
              <a:t>&gt;$430K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19" y="903427"/>
            <a:ext cx="2103120" cy="42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AEC0"/>
                </a:solidFill>
                <a:latin typeface="Calibri"/>
              </a:rPr>
              <a:t>VPN a 3 años (tasa 20%)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1499616"/>
            <a:ext cx="2286000" cy="117043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03320" y="2628900"/>
            <a:ext cx="2286000" cy="41148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1591056"/>
            <a:ext cx="2286000" cy="6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6A"/>
                </a:solidFill>
                <a:latin typeface="Calibri"/>
              </a:rPr>
              <a:t>4.8x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59" y="2201875"/>
            <a:ext cx="2103120" cy="42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AEC0"/>
                </a:solidFill>
                <a:latin typeface="Calibri"/>
              </a:rPr>
              <a:t>Relación Beneficio/Costo (3 años)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79" y="1499616"/>
            <a:ext cx="2286000" cy="117043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2628900"/>
            <a:ext cx="2286000" cy="41148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79" y="1591056"/>
            <a:ext cx="2286000" cy="6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6A"/>
                </a:solidFill>
                <a:latin typeface="Calibri"/>
              </a:rPr>
              <a:t>~18m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19" y="2201875"/>
            <a:ext cx="2103120" cy="42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AEC0"/>
                </a:solidFill>
                <a:latin typeface="Calibri"/>
              </a:rPr>
              <a:t>Recuperación de la inversión inicial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788920"/>
            <a:ext cx="5166360" cy="1627632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03320" y="2788920"/>
            <a:ext cx="5166360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2834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📊  Proyección de ingresos 3 años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18211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Año 1  $733,000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60" y="3419856"/>
            <a:ext cx="4937760" cy="8229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94760" y="3419856"/>
            <a:ext cx="1678838" cy="82296"/>
          </a:xfrm>
          <a:prstGeom prst="rect">
            <a:avLst/>
          </a:prstGeom>
          <a:solidFill>
            <a:srgbClr val="14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352958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Año 2  $1,340,000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3767328"/>
            <a:ext cx="4937760" cy="8229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94760" y="3767328"/>
            <a:ext cx="3061411" cy="82296"/>
          </a:xfrm>
          <a:prstGeom prst="rect">
            <a:avLst/>
          </a:prstGeom>
          <a:solidFill>
            <a:srgbClr val="A21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94760" y="387705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Año 3  $2,160,000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4760" y="4114800"/>
            <a:ext cx="4937760" cy="8229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94760" y="4114800"/>
            <a:ext cx="4937760" cy="8229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6A"/>
                </a:solidFill>
                <a:latin typeface="Calibri"/>
              </a:rPr>
              <a:t>POR QUÉ SOFTWAVES GANA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Flexibilidad + Escalabilidad = </a:t>
            </a:r>
            <a:r>
              <a:rPr sz="2800" b="1" i="0">
                <a:solidFill>
                  <a:srgbClr val="FFFF6A"/>
                </a:solidFill>
                <a:latin typeface="Calibri"/>
              </a:rPr>
              <a:t>Ventaja duradera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2743200" cy="150876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2743200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🧩  Arquitectura modular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El código es reutilizable. El cliente crece sin pagar de nuevo desde cero.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143000"/>
            <a:ext cx="2743200" cy="150876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143000"/>
            <a:ext cx="2743200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2344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📍  Presencia local única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5087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Únicos en Ameca/Región Valles. Conocimiento local, soporte cara a cara.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43000"/>
            <a:ext cx="2743200" cy="150876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43000"/>
            <a:ext cx="274320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2344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💰  Modelo compra o renta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087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El cliente elige según su flujo de caja. Nadie en el mercado local ofrece esta flexibilidad.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862072"/>
            <a:ext cx="2743200" cy="150876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862072"/>
            <a:ext cx="274320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535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⚡  Entrega 60% más rápida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27832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Módulos reutilizables: entregamos en semanas lo que otros tardan meses.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862072"/>
            <a:ext cx="2743200" cy="150876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2862072"/>
            <a:ext cx="2743200" cy="36576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29535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🤝  Soporte continuo real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227832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No desaparecemos al entregar. Mantenimiento y soporte incluidos desde el inicio.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862072"/>
            <a:ext cx="2743200" cy="1508760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862072"/>
            <a:ext cx="2743200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9535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🤖  IA como complemento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27832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Calibri"/>
              </a:rPr>
              <a:t>Cualquier sistema puede escalar con IA. El cliente no necesita cambiar de proveedor.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54096" cy="50292"/>
          </a:xfrm>
          <a:prstGeom prst="rect">
            <a:avLst/>
          </a:prstGeom>
          <a:solidFill>
            <a:srgbClr val="01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3044952" cy="50292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0"/>
            <a:ext cx="3044952" cy="50292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79" y="-274320"/>
            <a:ext cx="3840480" cy="3840480"/>
          </a:xfrm>
          <a:prstGeom prst="ellipse">
            <a:avLst/>
          </a:prstGeom>
          <a:noFill/>
          <a:ln w="3810">
            <a:solidFill>
              <a:srgbClr val="01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89120" y="1645920"/>
            <a:ext cx="2560320" cy="2560320"/>
          </a:xfrm>
          <a:prstGeom prst="ellipse">
            <a:avLst/>
          </a:prstGeom>
          <a:noFill/>
          <a:ln w="3810">
            <a:solidFill>
              <a:srgbClr val="7F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SoftWaves es la apuesta
por la </a:t>
            </a:r>
            <a:r>
              <a:rPr sz="3800" b="1" i="0">
                <a:solidFill>
                  <a:srgbClr val="FFFF6A"/>
                </a:solidFill>
                <a:latin typeface="Calibri"/>
              </a:rPr>
              <a:t>PyME mexicana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3087" y="2176272"/>
            <a:ext cx="91440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04288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EC0"/>
                </a:solidFill>
                <a:latin typeface="Calibri"/>
              </a:rPr>
              <a:t>Un equipo sólido, un modelo de negocio validado, una inversión responsable y un mercado que nos está esperando. La tecnología que las PyMEs necesitan — ahora al alcance de la Región Valles.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08960"/>
            <a:ext cx="2743200" cy="56692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2743200" cy="36576"/>
          </a:xfrm>
          <a:prstGeom prst="rect">
            <a:avLst/>
          </a:prstGeom>
          <a:solidFill>
            <a:srgbClr val="14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📧  softwaves.contacto@gmail.com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3108960"/>
            <a:ext cx="2743200" cy="56692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3108960"/>
            <a:ext cx="2743200" cy="36576"/>
          </a:xfrm>
          <a:prstGeom prst="rect">
            <a:avLst/>
          </a:prstGeom>
          <a:solidFill>
            <a:srgbClr val="7F0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200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🌐  minato97.github.io/softwaves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108960"/>
            <a:ext cx="2743200" cy="566928"/>
          </a:xfrm>
          <a:prstGeom prst="rect">
            <a:avLst/>
          </a:prstGeom>
          <a:solidFill>
            <a:srgbClr val="0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108960"/>
            <a:ext cx="2743200" cy="36576"/>
          </a:xfrm>
          <a:prstGeom prst="rect">
            <a:avLst/>
          </a:prstGeom>
          <a:solidFill>
            <a:srgbClr val="FF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00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📍  Ameca, Jalisco, México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40480"/>
            <a:ext cx="8138160" cy="658368"/>
          </a:xfrm>
          <a:prstGeom prst="rect">
            <a:avLst/>
          </a:prstGeom>
          <a:solidFill>
            <a:srgbClr val="01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9592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6A"/>
                </a:solidFill>
                <a:latin typeface="Calibri"/>
              </a:rPr>
              <a:t>SoftWaves  S. de R.L. de C.V.  |  Expo-Emprende 2026A  |  CUVALLES  |  Mayo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91947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5568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